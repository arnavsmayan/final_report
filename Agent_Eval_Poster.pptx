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4176" cy="10689336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4176" cy="155448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2166472" cy="1152144"/>
          </a:xfrm>
          <a:prstGeom prst="rect">
            <a:avLst/>
          </a:prstGeom>
        </p:spPr>
      </p:pic>
      <p:pic>
        <p:nvPicPr>
          <p:cNvPr id="5" name="Picture 4" descr="EliLilly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5880" y="201168"/>
            <a:ext cx="1874225" cy="11521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73152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4600" b="1" i="0">
                <a:solidFill>
                  <a:srgbClr val="FFFFFF"/>
                </a:solidFill>
                <a:latin typeface="Calibri"/>
              </a:defRPr>
            </a:pPr>
            <a:r>
              <a:t>Agent 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713232"/>
            <a:ext cx="105156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000" b="0" i="1">
                <a:solidFill>
                  <a:srgbClr val="FFFFFF"/>
                </a:solidFill>
                <a:latin typeface="Calibri"/>
              </a:defRPr>
            </a:pPr>
            <a:r>
              <a:t>An SDK for Evaluating Agentic AI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033271"/>
            <a:ext cx="1051560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Arnav Jain  ·  102203979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252728"/>
            <a:ext cx="1051560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Faculty Mentor: Dr. Anjula Mehto   ·   Industrial Mentor: Malashree B, Eli Lilly and Company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508760"/>
            <a:ext cx="15124176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691639"/>
            <a:ext cx="324612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691639"/>
            <a:ext cx="3246120" cy="50292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737360"/>
            <a:ext cx="2971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1.  About Eli Lilly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 i="1">
                <a:solidFill>
                  <a:srgbClr val="4A4A4A"/>
                </a:solidFill>
                <a:latin typeface="Calibri"/>
              </a:defRPr>
            </a:pPr>
            <a:r>
              <a:t>A global pharmaceutical leader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2971800" cy="2880359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 Global pharma company, founded 1876 · HQ Indianapolis.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 Portfolio spans diabetes, oncology, immunology and neuroscience.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 ~40,000 employees across R&amp;D, manufacturing and commercial.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 Digital &amp; AI team builds enterprise platforms for drug discovery, clinical operations and decision support.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•  Agentic AI is a rapidly emerging frontier — governance is critical for a regulated industry.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870447"/>
            <a:ext cx="3246120" cy="4407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5870447"/>
            <a:ext cx="3246120" cy="50292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5916167"/>
            <a:ext cx="2971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2.  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64807"/>
            <a:ext cx="2971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 i="1">
                <a:solidFill>
                  <a:srgbClr val="4A4A4A"/>
                </a:solidFill>
                <a:latin typeface="Calibri"/>
              </a:defRPr>
            </a:pPr>
            <a:r>
              <a:t>Why agentic AI is hard to 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876287"/>
            <a:ext cx="2971800" cy="3310128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 Agentic outputs are probabilistic and free-form; deterministic tests do not apply.</a:t>
            </a:r>
          </a:p>
          <a:p>
            <a:pPr>
              <a:spcAft>
                <a:spcPts val="7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 Manual engineer review is slow, inconsistent, and hard to audit.</a:t>
            </a:r>
          </a:p>
          <a:p>
            <a:pPr>
              <a:spcAft>
                <a:spcPts val="7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 Open-source eval libraries lack governance checks and Gateway integration.</a:t>
            </a:r>
          </a:p>
          <a:p>
            <a:pPr>
              <a:spcAft>
                <a:spcPts val="7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 No unified way to score agent quality across teams and projects.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67328" y="1691639"/>
            <a:ext cx="8394192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7328" y="1691639"/>
            <a:ext cx="8394192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1737360"/>
            <a:ext cx="8119871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3.  System Architecture</a:t>
            </a:r>
          </a:p>
        </p:txBody>
      </p:sp>
      <p:pic>
        <p:nvPicPr>
          <p:cNvPr id="24" name="Picture 23" descr="high_level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488" y="2331720"/>
            <a:ext cx="8119871" cy="15303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904488" y="3889456"/>
            <a:ext cx="8119871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 i="1">
                <a:solidFill>
                  <a:srgbClr val="4A4A4A"/>
                </a:solidFill>
                <a:latin typeface="Calibri"/>
              </a:defRPr>
            </a:pPr>
            <a:r>
              <a:t>Figure: High-level architecture — three-agent LangGraph pipeline.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33088" y="4182064"/>
            <a:ext cx="7662671" cy="18288"/>
          </a:xfrm>
          <a:prstGeom prst="rect">
            <a:avLst/>
          </a:prstGeom>
          <a:solidFill>
            <a:srgbClr val="D0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0208" y="4273504"/>
            <a:ext cx="8028431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 i="0">
                <a:solidFill>
                  <a:srgbClr val="1E40AF"/>
                </a:solidFill>
                <a:latin typeface="Calibri"/>
              </a:defRPr>
            </a:pPr>
            <a:r>
              <a:t>Three-Agent Evaluation Pipeline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98264" y="4657552"/>
            <a:ext cx="2103120" cy="914400"/>
          </a:xfrm>
          <a:prstGeom prst="roundRect">
            <a:avLst/>
          </a:prstGeom>
          <a:solidFill>
            <a:srgbClr val="2C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Child Agent</a:t>
            </a:r>
          </a:p>
          <a:p>
            <a:pPr algn="ctr">
              <a:spcBef>
                <a:spcPts val="300"/>
              </a:spcBef>
              <a:defRPr sz="1000">
                <a:solidFill>
                  <a:srgbClr val="FFFFFF"/>
                </a:solidFill>
                <a:latin typeface="Calibri"/>
              </a:defRPr>
            </a:pPr>
            <a:r>
              <a:t>Generates evaluation</a:t>
            </a:r>
            <a:br/>
            <a:r>
              <a:t>criteria from input</a:t>
            </a:r>
            <a:br/>
            <a:r>
              <a:t>and output.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547104" y="4986736"/>
            <a:ext cx="320040" cy="256032"/>
          </a:xfrm>
          <a:prstGeom prst="rightArrow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12864" y="4657552"/>
            <a:ext cx="2103120" cy="914400"/>
          </a:xfrm>
          <a:prstGeom prst="round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Tertiary Agent</a:t>
            </a:r>
          </a:p>
          <a:p>
            <a:pPr algn="ctr">
              <a:spcBef>
                <a:spcPts val="300"/>
              </a:spcBef>
              <a:defRPr sz="1000">
                <a:solidFill>
                  <a:srgbClr val="FFFFFF"/>
                </a:solidFill>
                <a:latin typeface="Calibri"/>
              </a:defRPr>
            </a:pPr>
            <a:r>
              <a:t>Runs 15 governance</a:t>
            </a:r>
            <a:br/>
            <a:r>
              <a:t>evaluators across</a:t>
            </a:r>
            <a:br/>
            <a:r>
              <a:t>5 pillars.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061704" y="4986736"/>
            <a:ext cx="320040" cy="256032"/>
          </a:xfrm>
          <a:prstGeom prst="rightArrow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427464" y="4657552"/>
            <a:ext cx="2103120" cy="9144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Main Agent</a:t>
            </a:r>
          </a:p>
          <a:p>
            <a:pPr algn="ctr">
              <a:spcBef>
                <a:spcPts val="300"/>
              </a:spcBef>
              <a:defRPr sz="1000">
                <a:solidFill>
                  <a:srgbClr val="FFFFFF"/>
                </a:solidFill>
                <a:latin typeface="Calibri"/>
              </a:defRPr>
            </a:pPr>
            <a:r>
              <a:t>Synthesizes final</a:t>
            </a:r>
            <a:br/>
            <a:r>
              <a:t>score, verdict</a:t>
            </a:r>
            <a:br/>
            <a:r>
              <a:t>and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62688" y="1691639"/>
            <a:ext cx="2706624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362688" y="1691639"/>
            <a:ext cx="2706624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527280" y="1737360"/>
            <a:ext cx="2432304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5.  Multi-Model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454128" y="2331720"/>
            <a:ext cx="2523744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 i="1">
                <a:solidFill>
                  <a:srgbClr val="4A4A4A"/>
                </a:solidFill>
                <a:latin typeface="Calibri"/>
              </a:defRPr>
            </a:pPr>
            <a:r>
              <a:t>Ensemble judgement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618720" y="2697479"/>
            <a:ext cx="2194560" cy="502920"/>
          </a:xfrm>
          <a:prstGeom prst="roundRect">
            <a:avLst/>
          </a:prstGeom>
          <a:solidFill>
            <a:srgbClr val="18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GPT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62688" y="3218688"/>
            <a:ext cx="2706624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 i="0">
                <a:solidFill>
                  <a:srgbClr val="4A4A4A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618720" y="3511296"/>
            <a:ext cx="2194560" cy="502920"/>
          </a:xfrm>
          <a:prstGeom prst="roundRect">
            <a:avLst/>
          </a:prstGeom>
          <a:solidFill>
            <a:srgbClr val="C26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Claude Sonnet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13587984" y="4087368"/>
            <a:ext cx="256032" cy="256032"/>
          </a:xfrm>
          <a:prstGeom prst="downArrow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2545568" y="4398264"/>
            <a:ext cx="2340864" cy="548640"/>
          </a:xfrm>
          <a:prstGeom prst="round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Comparison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499848" y="5038344"/>
            <a:ext cx="2432304" cy="539495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 Consensus verdict.</a:t>
            </a:r>
          </a:p>
          <a:p>
            <a:pPr>
              <a:spcAft>
                <a:spcPts val="3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 Reduces single-model bias.</a:t>
            </a:r>
          </a:p>
          <a:p>
            <a:pPr>
              <a:spcAft>
                <a:spcPts val="3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 Full audit trail.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67328" y="5870447"/>
            <a:ext cx="11301984" cy="4407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767328" y="5870447"/>
            <a:ext cx="11301984" cy="50292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0" y="5916167"/>
            <a:ext cx="11027663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6.  Results &amp; Impact</a:t>
            </a:r>
          </a:p>
        </p:txBody>
      </p:sp>
      <p:pic>
        <p:nvPicPr>
          <p:cNvPr id="46" name="Picture 45" descr="html_report_overview.png"/>
          <p:cNvPicPr>
            <a:picLocks noChangeAspect="1"/>
          </p:cNvPicPr>
          <p:nvPr/>
        </p:nvPicPr>
        <p:blipFill>
          <a:blip r:embed="rId5"/>
          <a:srcRect l="23939" r="23939"/>
          <a:stretch>
            <a:fillRect/>
          </a:stretch>
        </p:blipFill>
        <p:spPr>
          <a:xfrm>
            <a:off x="4263399" y="6537959"/>
            <a:ext cx="3302501" cy="344728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263399" y="10030968"/>
            <a:ext cx="3302501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 i="1">
                <a:solidFill>
                  <a:srgbClr val="4A4A4A"/>
                </a:solidFill>
                <a:latin typeface="Calibri"/>
              </a:defRPr>
            </a:pPr>
            <a:r>
              <a:t>Overview dashboard</a:t>
            </a:r>
          </a:p>
        </p:txBody>
      </p:sp>
      <p:pic>
        <p:nvPicPr>
          <p:cNvPr id="48" name="Picture 47" descr="violations_evidence.png"/>
          <p:cNvPicPr>
            <a:picLocks noChangeAspect="1"/>
          </p:cNvPicPr>
          <p:nvPr/>
        </p:nvPicPr>
        <p:blipFill>
          <a:blip r:embed="rId6"/>
          <a:srcRect l="25271" r="25271"/>
          <a:stretch>
            <a:fillRect/>
          </a:stretch>
        </p:blipFill>
        <p:spPr>
          <a:xfrm>
            <a:off x="7767069" y="6537959"/>
            <a:ext cx="3302501" cy="344728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767069" y="10030968"/>
            <a:ext cx="3302501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 i="1">
                <a:solidFill>
                  <a:srgbClr val="4A4A4A"/>
                </a:solidFill>
                <a:latin typeface="Calibri"/>
              </a:defRPr>
            </a:pPr>
            <a:r>
              <a:t>Violations &amp; evidence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70738" y="6537959"/>
            <a:ext cx="3302501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800" b="1" i="0">
                <a:solidFill>
                  <a:srgbClr val="D52B1E"/>
                </a:solidFill>
                <a:latin typeface="Calibri"/>
              </a:defRPr>
            </a:pPr>
            <a:r>
              <a:t>Outcomes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70738" y="6949439"/>
            <a:ext cx="3302501" cy="3035808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 Reusable SDK with a single-function entry point.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 Auto-generates evaluation criteria from any agent I/O.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 Scores outputs across 5 governance pillars via 15 evaluators.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 Supports single-model and multi-model consensus judgement.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 Runs on the internal Eli Lilly LLM Gateway.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 Emits a self-contained, interactive HTML report per run.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10369296"/>
            <a:ext cx="15124176" cy="32004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10415016"/>
            <a:ext cx="14356080" cy="2285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Agent Eval  ·  Project Semester 2026  ·  Thapar Institute of Engineering and Technology  ·  Eli Lilly and 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