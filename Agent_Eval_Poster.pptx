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4113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77" d="100"/>
          <a:sy n="77" d="100"/>
        </p:scale>
        <p:origin x="17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nav Jain" userId="f2adf29d-2619-42a8-86da-ba577201478b" providerId="ADAL" clId="{51CE8724-7848-51D2-B085-D619A97C2260}"/>
    <pc:docChg chg="modSld">
      <pc:chgData name="Arnav Jain" userId="f2adf29d-2619-42a8-86da-ba577201478b" providerId="ADAL" clId="{51CE8724-7848-51D2-B085-D619A97C2260}" dt="2026-07-02T09:08:05.365" v="43" actId="1038"/>
      <pc:docMkLst>
        <pc:docMk/>
      </pc:docMkLst>
      <pc:sldChg chg="modSp mod">
        <pc:chgData name="Arnav Jain" userId="f2adf29d-2619-42a8-86da-ba577201478b" providerId="ADAL" clId="{51CE8724-7848-51D2-B085-D619A97C2260}" dt="2026-07-02T09:08:05.365" v="43" actId="1038"/>
        <pc:sldMkLst>
          <pc:docMk/>
          <pc:sldMk cId="0" sldId="256"/>
        </pc:sldMkLst>
        <pc:spChg chg="mod">
          <ac:chgData name="Arnav Jain" userId="f2adf29d-2619-42a8-86da-ba577201478b" providerId="ADAL" clId="{51CE8724-7848-51D2-B085-D619A97C2260}" dt="2026-07-02T09:04:01.083" v="9" actId="20577"/>
          <ac:spMkLst>
            <pc:docMk/>
            <pc:sldMk cId="0" sldId="256"/>
            <ac:spMk id="15" creationId="{00000000-0000-0000-0000-000000000000}"/>
          </ac:spMkLst>
        </pc:spChg>
        <pc:spChg chg="mod">
          <ac:chgData name="Arnav Jain" userId="f2adf29d-2619-42a8-86da-ba577201478b" providerId="ADAL" clId="{51CE8724-7848-51D2-B085-D619A97C2260}" dt="2026-07-02T09:03:00.945" v="1" actId="20577"/>
          <ac:spMkLst>
            <pc:docMk/>
            <pc:sldMk cId="0" sldId="256"/>
            <ac:spMk id="35" creationId="{00000000-0000-0000-0000-000000000000}"/>
          </ac:spMkLst>
        </pc:spChg>
        <pc:spChg chg="mod">
          <ac:chgData name="Arnav Jain" userId="f2adf29d-2619-42a8-86da-ba577201478b" providerId="ADAL" clId="{51CE8724-7848-51D2-B085-D619A97C2260}" dt="2026-07-02T09:03:33.903" v="6" actId="255"/>
          <ac:spMkLst>
            <pc:docMk/>
            <pc:sldMk cId="0" sldId="256"/>
            <ac:spMk id="42" creationId="{00000000-0000-0000-0000-000000000000}"/>
          </ac:spMkLst>
        </pc:spChg>
        <pc:spChg chg="mod">
          <ac:chgData name="Arnav Jain" userId="f2adf29d-2619-42a8-86da-ba577201478b" providerId="ADAL" clId="{51CE8724-7848-51D2-B085-D619A97C2260}" dt="2026-07-02T09:03:07.670" v="3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Arnav Jain" userId="f2adf29d-2619-42a8-86da-ba577201478b" providerId="ADAL" clId="{51CE8724-7848-51D2-B085-D619A97C2260}" dt="2026-07-02T09:07:39.748" v="12" actId="1036"/>
          <ac:spMkLst>
            <pc:docMk/>
            <pc:sldMk cId="0" sldId="256"/>
            <ac:spMk id="47" creationId="{00000000-0000-0000-0000-000000000000}"/>
          </ac:spMkLst>
        </pc:spChg>
        <pc:spChg chg="mod">
          <ac:chgData name="Arnav Jain" userId="f2adf29d-2619-42a8-86da-ba577201478b" providerId="ADAL" clId="{51CE8724-7848-51D2-B085-D619A97C2260}" dt="2026-07-02T09:07:55.874" v="28" actId="1035"/>
          <ac:spMkLst>
            <pc:docMk/>
            <pc:sldMk cId="0" sldId="256"/>
            <ac:spMk id="49" creationId="{00000000-0000-0000-0000-000000000000}"/>
          </ac:spMkLst>
        </pc:spChg>
        <pc:spChg chg="mod">
          <ac:chgData name="Arnav Jain" userId="f2adf29d-2619-42a8-86da-ba577201478b" providerId="ADAL" clId="{51CE8724-7848-51D2-B085-D619A97C2260}" dt="2026-07-02T09:08:05.365" v="43" actId="1038"/>
          <ac:spMkLst>
            <pc:docMk/>
            <pc:sldMk cId="0" sldId="256"/>
            <ac:spMk id="50" creationId="{00000000-0000-0000-0000-000000000000}"/>
          </ac:spMkLst>
        </pc:spChg>
        <pc:spChg chg="mod">
          <ac:chgData name="Arnav Jain" userId="f2adf29d-2619-42a8-86da-ba577201478b" providerId="ADAL" clId="{51CE8724-7848-51D2-B085-D619A97C2260}" dt="2026-07-02T09:08:02.768" v="36" actId="1038"/>
          <ac:spMkLst>
            <pc:docMk/>
            <pc:sldMk cId="0" sldId="256"/>
            <ac:spMk id="51" creationId="{00000000-0000-0000-0000-000000000000}"/>
          </ac:spMkLst>
        </pc:spChg>
        <pc:picChg chg="mod">
          <ac:chgData name="Arnav Jain" userId="f2adf29d-2619-42a8-86da-ba577201478b" providerId="ADAL" clId="{51CE8724-7848-51D2-B085-D619A97C2260}" dt="2026-07-02T09:03:54.221" v="7" actId="14100"/>
          <ac:picMkLst>
            <pc:docMk/>
            <pc:sldMk cId="0" sldId="256"/>
            <ac:picMk id="24" creationId="{00000000-0000-0000-0000-000000000000}"/>
          </ac:picMkLst>
        </pc:picChg>
        <pc:picChg chg="mod">
          <ac:chgData name="Arnav Jain" userId="f2adf29d-2619-42a8-86da-ba577201478b" providerId="ADAL" clId="{51CE8724-7848-51D2-B085-D619A97C2260}" dt="2026-07-02T09:07:42.179" v="16" actId="1036"/>
          <ac:picMkLst>
            <pc:docMk/>
            <pc:sldMk cId="0" sldId="256"/>
            <ac:picMk id="46" creationId="{00000000-0000-0000-0000-000000000000}"/>
          </ac:picMkLst>
        </pc:picChg>
        <pc:picChg chg="mod">
          <ac:chgData name="Arnav Jain" userId="f2adf29d-2619-42a8-86da-ba577201478b" providerId="ADAL" clId="{51CE8724-7848-51D2-B085-D619A97C2260}" dt="2026-07-02T09:07:52.021" v="26" actId="1035"/>
          <ac:picMkLst>
            <pc:docMk/>
            <pc:sldMk cId="0" sldId="256"/>
            <ac:picMk id="48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4176" cy="10689336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4176" cy="155448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1168"/>
            <a:ext cx="2166472" cy="1152144"/>
          </a:xfrm>
          <a:prstGeom prst="rect">
            <a:avLst/>
          </a:prstGeom>
        </p:spPr>
      </p:pic>
      <p:pic>
        <p:nvPicPr>
          <p:cNvPr id="5" name="Picture 4" descr="EliLilly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5880" y="201168"/>
            <a:ext cx="1874225" cy="1152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73152"/>
            <a:ext cx="1051560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4600" b="1" i="0">
                <a:solidFill>
                  <a:srgbClr val="FFFFFF"/>
                </a:solidFill>
                <a:latin typeface="Calibri"/>
              </a:defRPr>
            </a:pPr>
            <a:r>
              <a:t>Agent 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713232"/>
            <a:ext cx="105156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2000" b="0" i="1">
                <a:solidFill>
                  <a:srgbClr val="FFFFFF"/>
                </a:solidFill>
                <a:latin typeface="Calibri"/>
              </a:defRPr>
            </a:pPr>
            <a:r>
              <a:t>An SDK for Evaluating Agentic AI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033271"/>
            <a:ext cx="10515600" cy="21945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Arnav Jain  ·  102203979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252728"/>
            <a:ext cx="10515600" cy="23774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Faculty Mentor: Dr. Anjula Mehto   ·   Industrial Mentor: Malashree B, Eli Lilly and Company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08760"/>
            <a:ext cx="15124176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691639"/>
            <a:ext cx="324612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691639"/>
            <a:ext cx="3246120" cy="5029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1737360"/>
            <a:ext cx="2971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1.  About Eli Lilly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2971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1500" b="1" i="1">
                <a:solidFill>
                  <a:srgbClr val="4A4A4A"/>
                </a:solidFill>
                <a:latin typeface="Calibri"/>
              </a:defRPr>
            </a:pPr>
            <a:r>
              <a:t>A global pharmaceutical leader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2971800" cy="2880359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•  Global pharma company, founded 1876 · HQ Indianapolis.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•  Portfolio spans diabetes, oncology, immunology and neuroscience.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•  ~40,000 employees across R&amp;D, manufacturing and commercial.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•  Digital &amp; AI team builds enterprise platforms for drug discovery, clinical operations and decision support.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•  Agentic AI is a rapidly emerging frontier </a:t>
            </a:r>
            <a:r>
              <a:rPr lang="en-US"/>
              <a:t>-</a:t>
            </a:r>
            <a:r>
              <a:t> governance is critical for a regulated industry.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870447"/>
            <a:ext cx="3246120" cy="4407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5870447"/>
            <a:ext cx="3246120" cy="5029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" y="5916167"/>
            <a:ext cx="2971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2.  Problem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64807"/>
            <a:ext cx="2971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1500" b="1" i="1">
                <a:solidFill>
                  <a:srgbClr val="4A4A4A"/>
                </a:solidFill>
                <a:latin typeface="Calibri"/>
              </a:defRPr>
            </a:pPr>
            <a:r>
              <a:t>Why agentic AI is hard to evaluate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876287"/>
            <a:ext cx="2971800" cy="3310128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•  Agentic outputs are probabilistic and free-form; deterministic tests do not apply.</a:t>
            </a:r>
          </a:p>
          <a:p>
            <a:pPr>
              <a:spcAft>
                <a:spcPts val="7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•  Manual engineer review is slow, inconsistent, and hard to audit.</a:t>
            </a:r>
          </a:p>
          <a:p>
            <a:pPr>
              <a:spcAft>
                <a:spcPts val="7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•  Open-source eval libraries lack governance checks and Gateway integration.</a:t>
            </a:r>
          </a:p>
          <a:p>
            <a:pPr>
              <a:spcAft>
                <a:spcPts val="7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•  No unified way to score agent quality across teams and projects.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67328" y="1691639"/>
            <a:ext cx="8394192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767328" y="1691639"/>
            <a:ext cx="8394192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931920" y="1737360"/>
            <a:ext cx="8119871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3.  System Architecture</a:t>
            </a:r>
          </a:p>
        </p:txBody>
      </p:sp>
      <p:pic>
        <p:nvPicPr>
          <p:cNvPr id="24" name="Picture 23" descr="high_level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2140" y="2321854"/>
            <a:ext cx="8172220" cy="154017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904488" y="3889456"/>
            <a:ext cx="8119871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200" b="0" i="1">
                <a:solidFill>
                  <a:srgbClr val="4A4A4A"/>
                </a:solidFill>
                <a:latin typeface="Calibri"/>
              </a:defRPr>
            </a:pPr>
            <a:r>
              <a:t>Figure: High-level architecture — three-agent LangGraph pipeline.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3088" y="4182064"/>
            <a:ext cx="7662671" cy="18288"/>
          </a:xfrm>
          <a:prstGeom prst="rect">
            <a:avLst/>
          </a:prstGeom>
          <a:solidFill>
            <a:srgbClr val="D0D5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50208" y="4273504"/>
            <a:ext cx="8028431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600" b="1" i="0">
                <a:solidFill>
                  <a:srgbClr val="1E40AF"/>
                </a:solidFill>
                <a:latin typeface="Calibri"/>
              </a:defRPr>
            </a:pPr>
            <a:r>
              <a:t>Three-Agent Evaluation Pipeline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98264" y="4657552"/>
            <a:ext cx="2103120" cy="914400"/>
          </a:xfrm>
          <a:prstGeom prst="roundRect">
            <a:avLst/>
          </a:prstGeom>
          <a:solidFill>
            <a:srgbClr val="2C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Child Agent</a:t>
            </a:r>
          </a:p>
          <a:p>
            <a:pPr algn="ctr">
              <a:spcBef>
                <a:spcPts val="3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Generates evaluation</a:t>
            </a:r>
            <a:br/>
            <a:r>
              <a:t>criteria from input</a:t>
            </a:r>
            <a:br/>
            <a:r>
              <a:t>and output.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547104" y="4986736"/>
            <a:ext cx="320040" cy="256032"/>
          </a:xfrm>
          <a:prstGeom prst="rightArrow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912864" y="4657552"/>
            <a:ext cx="2103120" cy="914400"/>
          </a:xfrm>
          <a:prstGeom prst="round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Tertiary Agent</a:t>
            </a:r>
          </a:p>
          <a:p>
            <a:pPr algn="ctr">
              <a:spcBef>
                <a:spcPts val="3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Runs 15 governance</a:t>
            </a:r>
            <a:br/>
            <a:r>
              <a:t>evaluators across</a:t>
            </a:r>
            <a:br/>
            <a:r>
              <a:t>5 pillars.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061704" y="4986736"/>
            <a:ext cx="320040" cy="256032"/>
          </a:xfrm>
          <a:prstGeom prst="rightArrow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427464" y="4657552"/>
            <a:ext cx="2103120" cy="9144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Main Agent</a:t>
            </a:r>
          </a:p>
          <a:p>
            <a:pPr algn="ctr">
              <a:spcBef>
                <a:spcPts val="3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Synthesizes final</a:t>
            </a:r>
            <a:br/>
            <a:r>
              <a:t>score, verdict</a:t>
            </a:r>
            <a:br/>
            <a:r>
              <a:t>and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62688" y="1691639"/>
            <a:ext cx="2706624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2362688" y="1691639"/>
            <a:ext cx="2706624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527280" y="1737360"/>
            <a:ext cx="2432304" cy="39395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rPr lang="en-US"/>
              <a:t>4</a:t>
            </a:r>
            <a:r>
              <a:t>.  Multi-Model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54128" y="2331720"/>
            <a:ext cx="2523744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200" b="1" i="1">
                <a:solidFill>
                  <a:srgbClr val="4A4A4A"/>
                </a:solidFill>
                <a:latin typeface="Calibri"/>
              </a:defRPr>
            </a:pPr>
            <a:r>
              <a:t>Ensemble judgement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618720" y="2697479"/>
            <a:ext cx="2194560" cy="502920"/>
          </a:xfrm>
          <a:prstGeom prst="roundRect">
            <a:avLst/>
          </a:prstGeom>
          <a:solidFill>
            <a:srgbClr val="18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GPT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62688" y="3218688"/>
            <a:ext cx="2706624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600" b="1" i="0">
                <a:solidFill>
                  <a:srgbClr val="4A4A4A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618720" y="3511296"/>
            <a:ext cx="2194560" cy="502920"/>
          </a:xfrm>
          <a:prstGeom prst="roundRect">
            <a:avLst/>
          </a:prstGeom>
          <a:solidFill>
            <a:srgbClr val="C26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Claude Sonnet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3587984" y="4087368"/>
            <a:ext cx="256032" cy="256032"/>
          </a:xfrm>
          <a:prstGeom prst="downArrow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2545568" y="4398264"/>
            <a:ext cx="2340864" cy="548640"/>
          </a:xfrm>
          <a:prstGeom prst="round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Comparison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499848" y="5038344"/>
            <a:ext cx="2432304" cy="704808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Calibri"/>
              </a:defRPr>
            </a:pPr>
            <a:r>
              <a:rPr sz="1200"/>
              <a:t>•  Consensus verdict.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Calibri"/>
              </a:defRPr>
            </a:pPr>
            <a:r>
              <a:rPr sz="1200"/>
              <a:t>•  Reduces single-model bias.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Calibri"/>
              </a:defRPr>
            </a:pPr>
            <a:r>
              <a:rPr sz="1200"/>
              <a:t>•  Full audit trail.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5870447"/>
            <a:ext cx="11301984" cy="4407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767328" y="5870447"/>
            <a:ext cx="11301984" cy="5029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931920" y="5916167"/>
            <a:ext cx="11027663" cy="39395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rPr lang="en-US"/>
              <a:t>5</a:t>
            </a:r>
            <a:r>
              <a:t>.  Results &amp; Impact</a:t>
            </a:r>
          </a:p>
        </p:txBody>
      </p:sp>
      <p:pic>
        <p:nvPicPr>
          <p:cNvPr id="46" name="Picture 45" descr="html_report_overview.png"/>
          <p:cNvPicPr>
            <a:picLocks noChangeAspect="1"/>
          </p:cNvPicPr>
          <p:nvPr/>
        </p:nvPicPr>
        <p:blipFill>
          <a:blip r:embed="rId5"/>
          <a:srcRect l="23939" r="23939"/>
          <a:stretch>
            <a:fillRect/>
          </a:stretch>
        </p:blipFill>
        <p:spPr>
          <a:xfrm>
            <a:off x="4133089" y="6468435"/>
            <a:ext cx="3432812" cy="35833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263399" y="10064218"/>
            <a:ext cx="3302501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100" b="0" i="1">
                <a:solidFill>
                  <a:srgbClr val="4A4A4A"/>
                </a:solidFill>
                <a:latin typeface="Calibri"/>
              </a:defRPr>
            </a:pPr>
            <a:r>
              <a:t>Overview dashboard</a:t>
            </a:r>
          </a:p>
        </p:txBody>
      </p:sp>
      <p:pic>
        <p:nvPicPr>
          <p:cNvPr id="48" name="Picture 47" descr="violations_evidence.png"/>
          <p:cNvPicPr>
            <a:picLocks noChangeAspect="1"/>
          </p:cNvPicPr>
          <p:nvPr/>
        </p:nvPicPr>
        <p:blipFill>
          <a:blip r:embed="rId6"/>
          <a:srcRect l="25271" r="25271"/>
          <a:stretch>
            <a:fillRect/>
          </a:stretch>
        </p:blipFill>
        <p:spPr>
          <a:xfrm>
            <a:off x="7636759" y="6468436"/>
            <a:ext cx="3432811" cy="35833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767069" y="10047593"/>
            <a:ext cx="3302501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100" b="0" i="1">
                <a:solidFill>
                  <a:srgbClr val="4A4A4A"/>
                </a:solidFill>
                <a:latin typeface="Calibri"/>
              </a:defRPr>
            </a:pPr>
            <a:r>
              <a:t>Violations &amp; evidence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87113" y="6537959"/>
            <a:ext cx="3302501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1800" b="1" i="0">
                <a:solidFill>
                  <a:srgbClr val="D52B1E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3738" y="6949439"/>
            <a:ext cx="3302501" cy="2828467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</a:pPr>
            <a:r>
              <a:rPr sz="1400"/>
              <a:t>•  Reusable SDK with a single-function entry point.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</a:pPr>
            <a:r>
              <a:rPr sz="1400"/>
              <a:t>•  Auto-generates evaluation criteria from any agent I/O.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</a:pPr>
            <a:r>
              <a:rPr sz="1400"/>
              <a:t>•  Scores outputs across 5 governance pillars via 15 evaluators.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</a:pPr>
            <a:r>
              <a:rPr sz="1400"/>
              <a:t>•  Supports single-model and multi-model consensus judgement.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</a:pPr>
            <a:r>
              <a:rPr sz="1400"/>
              <a:t>•  Runs on the internal Eli Lilly LLM Gateway.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</a:pPr>
            <a:r>
              <a:rPr sz="1400"/>
              <a:t>•  Emits a self-contained, interactive HTML report per run.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10369296"/>
            <a:ext cx="15124176" cy="3200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65760" y="10415016"/>
            <a:ext cx="14356080" cy="22859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Agent Eval  ·  Project Semester 2026  ·  Thapar Institute of Engineering and Technology  ·  Eli Lilly and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339</Words>
  <Application>Microsoft Macintosh PowerPoint</Application>
  <PresentationFormat>Custom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Arnav Jain</cp:lastModifiedBy>
  <cp:revision>1</cp:revision>
  <dcterms:created xsi:type="dcterms:W3CDTF">2013-01-27T09:14:16Z</dcterms:created>
  <dcterms:modified xsi:type="dcterms:W3CDTF">2026-07-02T09:08:05Z</dcterms:modified>
  <cp:category/>
</cp:coreProperties>
</file>